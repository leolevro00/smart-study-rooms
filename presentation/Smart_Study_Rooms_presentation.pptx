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38e5b0cc834dae" /><Relationship Type="http://schemas.openxmlformats.org/officeDocument/2006/relationships/extended-properties" Target="/docProps/app.xml" Id="R3aaa043d1e4744df" /><Relationship Type="http://schemas.openxmlformats.org/officeDocument/2006/relationships/officeDocument" Target="/ppt/presentation.xml" Id="Ra1cf523cdeeb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e6e47706f64150"/>
  </p:sldMasterIdLst>
  <p:notesMasterIdLst>
    <p:notesMasterId xmlns:r="http://schemas.openxmlformats.org/officeDocument/2006/relationships" r:id="Rb1bd67d85d6747df"/>
  </p:notesMasterIdLst>
  <p:sldIdLst>
    <p:sldId xmlns:r="http://schemas.openxmlformats.org/officeDocument/2006/relationships" id="256" r:id="R3793443b67a04636"/>
    <p:sldId xmlns:r="http://schemas.openxmlformats.org/officeDocument/2006/relationships" id="257" r:id="R16fc63bd453d4ac6"/>
    <p:sldId xmlns:r="http://schemas.openxmlformats.org/officeDocument/2006/relationships" id="258" r:id="R8d0eaa7080a44087"/>
    <p:sldId xmlns:r="http://schemas.openxmlformats.org/officeDocument/2006/relationships" id="259" r:id="R0bee5d9d311c4f4a"/>
    <p:sldId xmlns:r="http://schemas.openxmlformats.org/officeDocument/2006/relationships" id="260" r:id="Rfde9bb30360a4bbc"/>
    <p:sldId xmlns:r="http://schemas.openxmlformats.org/officeDocument/2006/relationships" id="261" r:id="Rcf22de20c156477e"/>
    <p:sldId xmlns:r="http://schemas.openxmlformats.org/officeDocument/2006/relationships" id="262" r:id="Ra44caf59953a49a5"/>
    <p:sldId xmlns:r="http://schemas.openxmlformats.org/officeDocument/2006/relationships" id="263" r:id="Rea58051dd34e4198"/>
    <p:sldId xmlns:r="http://schemas.openxmlformats.org/officeDocument/2006/relationships" id="264" r:id="Ra54de89fc06d459e"/>
    <p:sldId xmlns:r="http://schemas.openxmlformats.org/officeDocument/2006/relationships" id="265" r:id="R3199d8d510b848eb"/>
    <p:sldId xmlns:r="http://schemas.openxmlformats.org/officeDocument/2006/relationships" id="266" r:id="R46ed0aabbc024684"/>
    <p:sldId xmlns:r="http://schemas.openxmlformats.org/officeDocument/2006/relationships" id="267" r:id="R245854bb7dff42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37588a302414c" /><Relationship Type="http://schemas.openxmlformats.org/officeDocument/2006/relationships/slideMaster" Target="/ppt/slideMasters/slideMaster1.xml" Id="Rede6e47706f64150" /><Relationship Type="http://schemas.openxmlformats.org/officeDocument/2006/relationships/notesMaster" Target="/ppt/notesMasters/notesMaster1.xml" Id="Rb1bd67d85d6747df" /><Relationship Type="http://schemas.openxmlformats.org/officeDocument/2006/relationships/presProps" Target="/ppt/presProps.xml" Id="R4896d74128ae4881" /><Relationship Type="http://schemas.openxmlformats.org/officeDocument/2006/relationships/tableStyles" Target="/ppt/tableStyles.xml" Id="R717ef502ad924e47" /><Relationship Type="http://schemas.openxmlformats.org/officeDocument/2006/relationships/slide" Target="/ppt/slides/slide1.xml" Id="R3793443b67a04636" /><Relationship Type="http://schemas.openxmlformats.org/officeDocument/2006/relationships/slide" Target="/ppt/slides/slide2.xml" Id="R16fc63bd453d4ac6" /><Relationship Type="http://schemas.openxmlformats.org/officeDocument/2006/relationships/slide" Target="/ppt/slides/slide3.xml" Id="R8d0eaa7080a44087" /><Relationship Type="http://schemas.openxmlformats.org/officeDocument/2006/relationships/slide" Target="/ppt/slides/slide4.xml" Id="R0bee5d9d311c4f4a" /><Relationship Type="http://schemas.openxmlformats.org/officeDocument/2006/relationships/slide" Target="/ppt/slides/slide5.xml" Id="Rfde9bb30360a4bbc" /><Relationship Type="http://schemas.openxmlformats.org/officeDocument/2006/relationships/slide" Target="/ppt/slides/slide6.xml" Id="Rcf22de20c156477e" /><Relationship Type="http://schemas.openxmlformats.org/officeDocument/2006/relationships/slide" Target="/ppt/slides/slide7.xml" Id="Ra44caf59953a49a5" /><Relationship Type="http://schemas.openxmlformats.org/officeDocument/2006/relationships/slide" Target="/ppt/slides/slide8.xml" Id="Rea58051dd34e4198" /><Relationship Type="http://schemas.openxmlformats.org/officeDocument/2006/relationships/slide" Target="/ppt/slides/slide9.xml" Id="Ra54de89fc06d459e" /><Relationship Type="http://schemas.openxmlformats.org/officeDocument/2006/relationships/slide" Target="/ppt/slides/slide10.xml" Id="R3199d8d510b848eb" /><Relationship Type="http://schemas.openxmlformats.org/officeDocument/2006/relationships/slide" Target="/ppt/slides/slide11.xml" Id="R46ed0aabbc024684" /><Relationship Type="http://schemas.openxmlformats.org/officeDocument/2006/relationships/slide" Target="/ppt/slides/slide12.xml" Id="R245854bb7dff42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a1bdd02ba34f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36e5a75aa4d2e" /><Relationship Type="http://schemas.openxmlformats.org/officeDocument/2006/relationships/notesMaster" Target="/ppt/notesMasters/notesMaster1.xml" Id="Rbe8752262a934a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cb09f84b04ddb" /><Relationship Type="http://schemas.openxmlformats.org/officeDocument/2006/relationships/notesMaster" Target="/ppt/notesMasters/notesMaster1.xml" Id="Rf5e5a4f42c5e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caa5c9fe1844b7" /><Relationship Type="http://schemas.openxmlformats.org/officeDocument/2006/relationships/notesMaster" Target="/ppt/notesMasters/notesMaster1.xml" Id="Rf15a8577945e46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85e58b67b24d9c" /><Relationship Type="http://schemas.openxmlformats.org/officeDocument/2006/relationships/notesMaster" Target="/ppt/notesMasters/notesMaster1.xml" Id="R5b2042bc649940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621f2c43bc4046" /><Relationship Type="http://schemas.openxmlformats.org/officeDocument/2006/relationships/notesMaster" Target="/ppt/notesMasters/notesMaster1.xml" Id="R3588ac3b06f641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81419351774d9d" /><Relationship Type="http://schemas.openxmlformats.org/officeDocument/2006/relationships/notesMaster" Target="/ppt/notesMasters/notesMaster1.xml" Id="R107722e13f504b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14996e349643f3" /><Relationship Type="http://schemas.openxmlformats.org/officeDocument/2006/relationships/notesMaster" Target="/ppt/notesMasters/notesMaster1.xml" Id="Rc862255f125543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d522c102de4201" /><Relationship Type="http://schemas.openxmlformats.org/officeDocument/2006/relationships/notesMaster" Target="/ppt/notesMasters/notesMaster1.xml" Id="R4a191484b64442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3d79f26c784e66" /><Relationship Type="http://schemas.openxmlformats.org/officeDocument/2006/relationships/notesMaster" Target="/ppt/notesMasters/notesMaster1.xml" Id="R618a7a5929da40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9d4d20ea714acb" /><Relationship Type="http://schemas.openxmlformats.org/officeDocument/2006/relationships/notesMaster" Target="/ppt/notesMasters/notesMaster1.xml" Id="Raa5b25efed0e4e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af2b5931074304" /><Relationship Type="http://schemas.openxmlformats.org/officeDocument/2006/relationships/notesMaster" Target="/ppt/notesMasters/notesMaster1.xml" Id="R0173b651143742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7045969b184617" /><Relationship Type="http://schemas.openxmlformats.org/officeDocument/2006/relationships/notesMaster" Target="/ppt/notesMasters/notesMaster1.xml" Id="R62a78f11207f4a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789fafad9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29fcd0a3c84a57" /><Relationship Type="http://schemas.openxmlformats.org/officeDocument/2006/relationships/slideLayout" Target="/ppt/slideLayouts/slideLayout1.xml" Id="Re102e72793c847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2e72793c847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6316acd114572" /><Relationship Type="http://schemas.openxmlformats.org/officeDocument/2006/relationships/notesSlide" Target="/ppt/notesSlides/notesSlide1.xml" Id="R5ea2bd77b15e47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e2f6ba3dc47f3" /><Relationship Type="http://schemas.openxmlformats.org/officeDocument/2006/relationships/notesSlide" Target="/ppt/notesSlides/notesSlide2.xml" Id="Rdae70828432f43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65e4429034c62" /><Relationship Type="http://schemas.openxmlformats.org/officeDocument/2006/relationships/notesSlide" Target="/ppt/notesSlides/notesSlide3.xml" Id="Re3519087ba2e41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efab72e4b44db" /><Relationship Type="http://schemas.openxmlformats.org/officeDocument/2006/relationships/notesSlide" Target="/ppt/notesSlides/notesSlide4.xml" Id="Rf45eedc89443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722593fce4859" /><Relationship Type="http://schemas.openxmlformats.org/officeDocument/2006/relationships/notesSlide" Target="/ppt/notesSlides/notesSlide5.xml" Id="Rdad021ba31a547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005568ddd4ca5" /><Relationship Type="http://schemas.openxmlformats.org/officeDocument/2006/relationships/notesSlide" Target="/ppt/notesSlides/notesSlide6.xml" Id="R37085cb5201542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769feb6d64d4b" /><Relationship Type="http://schemas.openxmlformats.org/officeDocument/2006/relationships/notesSlide" Target="/ppt/notesSlides/notesSlide7.xml" Id="R04f8874b8f164e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8c11f34d74ac8" /><Relationship Type="http://schemas.openxmlformats.org/officeDocument/2006/relationships/notesSlide" Target="/ppt/notesSlides/notesSlide8.xml" Id="Rc6e71592bc564a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bc448c4a5497e" /><Relationship Type="http://schemas.openxmlformats.org/officeDocument/2006/relationships/notesSlide" Target="/ppt/notesSlides/notesSlide9.xml" Id="Rb3fed516afa640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c7204d02f4ad4" /><Relationship Type="http://schemas.openxmlformats.org/officeDocument/2006/relationships/notesSlide" Target="/ppt/notesSlides/notesSlide10.xml" Id="R3fbe81e7669a4c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b99c185944dd7" /><Relationship Type="http://schemas.openxmlformats.org/officeDocument/2006/relationships/notesSlide" Target="/ppt/notesSlides/notesSlide11.xml" Id="Ra2ba33975fb644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017c949b54c15" /><Relationship Type="http://schemas.openxmlformats.org/officeDocument/2006/relationships/notesSlide" Target="/ppt/notesSlides/notesSlide12.xml" Id="Rad81ee2e983246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AA05F-93D6-4ABA-8823-91E047B4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Smart Study Rooms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59726-F994-4949-97E0-7C97A37D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Il digital twin delle aule studio: misura comfort, rumore e disponibilità, poi suggerisce dove studiare meglio.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12E54-06C2-45C2-850A-41B3E74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7F60A-936E-4253-B759-A49AD049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6AE9C-ADCC-4934-BC22-6C8E001D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27F61-901A-4212-AAAF-DA8A0DC7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2417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Firebase realtime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7CCB2-3525-4C5C-91D8-A7295B2B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5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F2C8E-7C45-4DBB-9211-96F538F5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2417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Android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D3CAE-3304-4E44-98A1-913A8A8D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21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41F25-BDFA-45CA-95D2-AB0ACBC6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24175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ML predictions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6ACDE-31CB-4083-867B-3C77C75E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14400"/>
            <a:ext cx="3238500" cy="4095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AF087-B7C6-4994-AD94-3B7A3608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5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Aula consigliata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77D20-F26A-4F10-B950-BBAECAE4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2880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48F4A-8903-4418-AD92-6DBC9A45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A34A"/>
                </a:solidFill>
              </a:defRPr>
            </a:pPr>
            <a:r>
              <a:rPr sz="2550" b="1">
                <a:solidFill>
                  <a:srgbClr val="16A34A"/>
                </a:solidFill>
              </a:rPr>
              <a:t>87/100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2A5A1-80AC-4762-8507-C2E596C1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Score comfort Aula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78021-629E-4F75-A7FA-5E758245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4DE9B-1928-4CD5-8098-C1D71D8C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61/100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E1EA4-B6DC-4D9C-A224-55743CDF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Score comfort Aula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389D0-5225-4FC7-9481-2BE88369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Progetto universitario IoT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E56CB-A26D-46E5-B880-E411DB9B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253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DB283-53CB-4865-B845-EE84938D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Il problema: scegliere un'aula oggi è ancora a tentativi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389EC-372D-4D25-AAED-979A5764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Lo studente scopre rumore, temperatura e affollamento solo dopo essere entrato.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DF155-5322-44DF-92BE-BFEFDD07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9E98-1F86-4EF9-A632-9D38F79E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9D791-2EEA-42D1-B95B-BF61AA16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tempo perso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2704F-94E4-4690-A5C3-A1074046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spostamenti tra aule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24E60-C6C6-41BA-8413-CFE783F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ED445-B561-493D-A657-A515EE1D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comfort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46DD4-147B-4399-97D3-D95D71FA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765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temperatura e umidità non visibili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C8FF6-64F1-4EE8-899B-73E4F175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71E53-29A9-4F57-BC48-9143A666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rumore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EDAB8-75B1-46DF-8AF7-70406639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condizione più difficile da prevedere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94A04-9DE5-405A-BAE6-D2325CA1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Smart Study Rooms trasforma una decisione casuale in un suggerimento basato su dati ambientali aggiornati in tempo reale.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5B7BA-E8BC-449E-9018-92489044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A9FDC-0DE8-424F-828B-2059ADEC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2077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AA07C-CA25-42B9-856D-25D1495C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Il prodotto: una bussola realtime per trovare l'aula migliore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1904F-B513-4D64-8526-BE224E17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Due nodi IoT misurano l'ambiente, il cloud sincronizza i dati e l'app consiglia dove andare.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A3BFB-7E59-4FD1-B629-0BCF4212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B434F-BBCB-4C3C-B74C-05109735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BB98F-FAD3-4B9A-8435-FD578DFF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Misura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5EC5E-B007-4011-86F2-743926C8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temperatura, umidità, rumore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E1B0C-2230-40D6-BBBB-BCD33511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52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C6109-1188-4C3B-BE68-EB0DABEA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7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ED8F0-F8B5-4103-9C97-479A706C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Sincronizza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791EE-B1A8-44F2-B890-3D3E6DEC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Firebase Realtime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59A15-0EB9-4C71-83EA-00A0CE94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52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846C3-0A57-4399-9914-733477A6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C6CF7-79DE-4980-8086-2F9006C8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Valuta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5C34B-1428-4801-8E78-DD6028A3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194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score 0–100 e stato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E1015-A746-433D-9154-855DF8E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52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D67B7-A4E9-49C1-B20E-60F071F2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44FF0-18E4-43F7-8FEE-ECC99683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Suggerisce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183A4-AFD4-4CDA-87D4-DC9B8201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194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aula consigliata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30BA3-D39B-4164-8F12-CE18F20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Perché adottarlo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D7313-3024-4946-9A36-2761136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0BE25-310C-496C-98A1-30D56FDE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577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migliora l'esperienza di studio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BBB12-3B49-4232-8C71-13E52A07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6EC03-0B97-4BC9-A369-25E036A1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usa hardware economico e replicabile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F046D2-2EB0-4711-B2B5-B5CA4D20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FBF8C-8001-4808-990C-48F7244D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970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apre la strada a prenotazioni, storico e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F7E2A-FC86-42E8-8AB8-47B721BD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Perché è presentabile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23159-E027-4D0C-AFDA-DCD94485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DDBB26-A954-4CB4-AE68-C191845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415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architettura end-to-end completa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D0C1B4-2C96-47DC-B80B-20897FFA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1ABA24-F860-4475-A9C4-2511F491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38700"/>
            <a:ext cx="415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dati realtime e storico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A4898-5E10-49F1-9D0C-410666B9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DFBB3-FC46-49E6-9F12-309AEE92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9700"/>
            <a:ext cx="415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AI based prediction come evoluzione naturale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E5AAA1-6D3D-4353-AB8E-D41A0F7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100738-2243-4AB2-917F-192C4C0C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7244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7E718-6DD8-4A4B-A281-0E681A8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La roadmap rende il prototipo una piattaforma di campus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0DB1A-9D0C-4D22-A6E5-2059A03C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La base tecnica è già pronta per crescere oltre le due aule della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94387-BF23-4EC4-924B-166AE2F3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AA160-E22C-4C1D-A708-88FAC240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00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34990-13FD-471D-985F-601AF0F4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Più aule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4038A-4BAB-483F-9B40-902E5D3B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aggiunta dinamica di nuovi nodi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A4316-AEE6-47F4-BCBD-48250DE5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000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84ADB-F491-4E99-B3D5-A038D877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Storico e grafici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7E594-21DE-438B-82E7-53214676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analisi del comfort nel tempo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A4F24-F35B-4DEC-9237-D9C8B46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000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668B6-85CE-4BC2-9214-B7B194AB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Notifiche push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624BF-1C6E-47F8-A43C-44A23C03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avvisi quando un'aula peggiora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D2945-746A-468E-9EAF-F13E09FD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000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3145F-CADF-4251-B8FE-CC9F8838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Prenotazione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A0892-1145-4F8B-9558-AF284277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dal consiglio all'azione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E879B-C7B8-4A64-A7CA-8EB63757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000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1952E-78E3-4BF2-A348-C64BE6E4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Sensori aria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DACC4-B85D-4852-8EA5-741E63D3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CO2 e qualità ambientale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2DD59-D37A-482D-A58A-7C1C32F5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000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67A36-7236-4AE2-8F42-85ECCC10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Attuatori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DCF8A-B826-4A34-9CAF-09E692C3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LED/relè per clima e umidità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E4F46-8E49-4956-B5C2-9E832824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35461-C732-4B05-A041-227DB730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8198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1B5FE3-EC44-481F-BCD0-E9B79561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Architettura: due aule, un bridge centrale, un'app realtime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398A7-55F7-47EC-BE49-4F9D3023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Il PC bridge normalizza i dati dei due Arduino e li pubblica su Firebase.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B2C8E-BDC6-4958-9D4F-68AFE0E0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6F099-7CAD-420C-9730-5093C0F2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9CC71-FF40-4BD7-9DB7-D8DACCA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Arduino UNO n.1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94676-1BD2-44B1-98C3-B7B3E647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Aula 1 + sensori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CA00D-B73D-4F57-B6A0-1E248FD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9555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6CBD0-3CC8-4DD4-86A0-166F553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524F6-2E72-4B83-B026-116738B5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66975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serial_to_bridge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2D170-35C4-4AEE-9A10-48EA6080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717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room1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3F602-5A17-450E-9019-0B47EE98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9555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90FC6-D726-425E-963D-295EF900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7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536FE-A5E1-4249-B84A-4818A036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66975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Bridge Python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2BBFA-18EC-4287-B5C1-294C034E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7177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validazione +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FABC2-B38C-4D6B-9074-3E992F93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7BF0F-7CB5-47A1-BFC2-66DFCB43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AF002-B93E-49C7-849F-7D3A6626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46697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Firebase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90951-0B37-48D1-A609-9B0D9CF6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7177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rooms +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73D4B-C908-4380-9EEB-D26755F2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95550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E58DF-95FD-4CAF-B72B-CBC801CD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33625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4A4AD-07A7-4742-9281-52D5D9B1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66975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Android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8B144-7A54-4DED-8AEC-B75FB98B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717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UI realtime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431DD-509D-4DDF-B88C-6C64EDD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5B0F5-EE37-4E56-9A0D-4BF14A9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Arduino UNO n.2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1D71B7-C359-4730-8835-E4343740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Aula 2 + sensori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F9DF1F-163A-48CE-B3A6-879DE1D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766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4FF86-C3E0-4A72-BAD5-ED60DDE0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C7448-E081-4D49-9A90-D57C9B69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481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serial_to_bridge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F8E084-189E-4A66-A163-4F3AC620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529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room2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21F858-151B-416C-8177-A7DA70CC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766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91E3AE-8D9E-4FFF-A337-54A9725A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Il bridge può stare su un solo PC anche quando i due Arduino sono collegati a computer diversi.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FB342-99D3-4521-9416-224D58B2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F2EF98-29CB-4200-B65F-26160DB1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2833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CA136-CD6F-4E4E-B7C0-179E9728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I nodi sensore sono semplici e replicabili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B6C94-4EE1-409A-B57E-ECB07E14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Ogni aula usa lo stesso schema: Arduino, sensori ambientali e invio seriale JSON.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2BD5E-4F76-401A-A3B5-1F0025D1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6EC6C-7042-4201-A104-128A8C68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572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1CBE3-9444-408F-AC1B-6530DC3D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Nodo Aula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613DD-25C8-48BB-B117-3A1B1C2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4D91F-3210-4CE0-910A-8D407025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Arduino UNO n.1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4FC4D-38CD-4BDB-8F10-67B916D1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682A0-7AE2-43A7-8883-27D99B8C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DHT11/DHT22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F3238-7659-4624-8CF5-86BC58D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5BB17-E135-41AC-A0B9-6A024C8F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766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KY-037/KY-038 su 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296C8-960D-4FF3-B0B9-03AD928B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96E45-688B-4879-A485-0B7EDF26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USB verso 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455FB-221B-4A07-BDEA-B892A0DB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4572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B26FA-8B8B-4C39-8148-F30A23C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Nodo Aula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081D8-50AD-4F1C-8770-CF15F243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57147-29AF-4894-ADDB-14EB2BB2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Arduino UNO n.2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E281A-1563-47DD-9C94-2CD50E85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EC4A6-9BD6-400D-901B-860C9F3F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stessi sensori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FBD92-DEF3-4765-933C-853EB5FE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52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A1104-610E-46B7-9C7F-8102E6F1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rumore come picco su 10s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7280F-80D2-44CF-87B4-9FCF999F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7B281-EC34-412A-80AC-4FF4FB0F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386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room-id separato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450D5-B561-4B17-B52D-3320FFA4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Attuatore proposto: LED che simula condizionatore o deumidificatore quando temperatura/umidità superano soglie definite.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14B29-8E8D-48E6-B901-2F4C66F3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96CFA-DB92-4E68-97BD-0E787908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48310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62B2B-B2F1-4DB6-86A2-641C5DFB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Il bridge rende il sistema controllabile e scalabile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66A75-29DF-447F-9429-93449F51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Non è solo un passaggio tecnico: è il gateway che pulisce, valida e storicizza i dati.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CC264-0FC8-4ACF-BF1F-0C7E082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3EEE4-72A4-4A8B-97A8-536D7DBE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C8089-E03D-47B1-A12D-3C6E3E5F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472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riceve JSON dagli script seriali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AC6A6-D6B0-40FB-BE1F-75FD9B77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ACE86-7E27-4082-B4F2-542B9005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472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controlla range validi: temperatura, umidità, rumore, presenza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5081B-BC33-4968-825D-01D71A2C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3EDED-8B40-4BB6-9939-96C78347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472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scrive stato corrente in rooms/roomX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CF575-DE5E-4A5D-A11F-797EF1ED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C3786-FAEE-4BB1-B93D-5182797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76625"/>
            <a:ext cx="4724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salva serie storiche in history/roomX/timestamp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CB70F-C057-4287-8A46-42BE0C29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619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3AE62-F946-4BA3-8225-CD2F0F44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GET /health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D0F0C-9FE4-4CD4-B336-24247A1C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BFE"/>
                </a:solidFill>
              </a:defRPr>
            </a:pPr>
            <a:r>
              <a:rPr sz="1800" b="0">
                <a:solidFill>
                  <a:srgbClr val="BFDBFE"/>
                </a:solidFill>
              </a:rPr>
              <a:t>POST /rooms/room1</a:t>
            </a:r>
          </a:p>
          <a:p xmlns:a="http://schemas.openxmlformats.org/drawingml/2006/main">
            <a:pPr algn="l">
              <a:defRPr sz="1800" b="0">
                <a:solidFill>
                  <a:srgbClr val="BFDBFE"/>
                </a:solidFill>
              </a:defRPr>
            </a:pPr>
            <a:r>
              <a:rPr sz="1800" b="0">
                <a:solidFill>
                  <a:srgbClr val="BFDBFE"/>
                </a:solidFill>
              </a:rPr>
              <a:t>POST /rooms/room2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4CEF2-6770-4CE0-B282-9F2CA103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F3D0"/>
                </a:solidFill>
              </a:defRPr>
            </a:pPr>
            <a:r>
              <a:rPr sz="1500" b="0">
                <a:solidFill>
                  <a:srgbClr val="A7F3D0"/>
                </a:solidFill>
              </a:rPr>
              <a:t>source: bridge</a:t>
            </a:r>
          </a:p>
          <a:p xmlns:a="http://schemas.openxmlformats.org/drawingml/2006/main">
            <a:pPr algn="l">
              <a:defRPr sz="1500" b="0">
                <a:solidFill>
                  <a:srgbClr val="A7F3D0"/>
                </a:solidFill>
              </a:defRPr>
            </a:pPr>
            <a:r>
              <a:rPr sz="1500" b="0">
                <a:solidFill>
                  <a:srgbClr val="A7F3D0"/>
                </a:solidFill>
              </a:rPr>
              <a:t>lastUpdate: 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43C9D-7016-4A98-9910-B4134434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7C41C-D557-4FB3-A78F-D9093616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58661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E7CD2-928F-400E-8604-C9A69585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Firebase separa stato attuale, storico e predizioni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6CD93-9C37-43FA-94F2-11556986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La struttura è leggibile e pronta per essere estesa a nuove aule.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990EC-A914-4B2C-B854-A19CEF04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21E7C-2CBF-460D-BE86-02760636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6666F-869E-4401-A092-F345970C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193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rooms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1110B-1A0E-4470-9B0A-24DB822C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stato realtime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E2377-B4EA-4D6B-8FED-E2A71243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7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F7C23-4DED-45A9-BBEB-54B3265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4193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9D48E-2132-424D-AB49-109B72CA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241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serie temporali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C0DA6-4D9C-4537-A214-C33ABD35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03DA2-3E93-4622-A455-39C92AE9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1935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predictions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F2E3A-8323-4585-811E-E3CB5C27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output 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300BD-1DA4-46A8-9F3B-927474B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rooms/room1</a:t>
            </a:r>
          </a:p>
          <a:p xmlns:a="http://schemas.openxmlformats.org/drawingml/2006/main">
            <a:pPr algn="ctr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rooms/room2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0C7D9-ABB2-4A5E-901D-82B4CBC5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337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history/room1/&lt;timestamp&gt;</a:t>
            </a:r>
          </a:p>
          <a:p xmlns:a="http://schemas.openxmlformats.org/drawingml/2006/main">
            <a:pPr algn="ctr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history/room2/&lt;timestamp&gt;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3C4DF-32E4-4AB2-8EDE-8532974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predictions/room1</a:t>
            </a:r>
          </a:p>
          <a:p xmlns:a="http://schemas.openxmlformats.org/drawingml/2006/main">
            <a:pPr algn="ctr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predictions/room2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ABE1B-636D-409E-A2BD-5EAD3620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Questa separazione consente all'app di essere veloce, mentre ML e analisi usano lo storico senza rallentare la vista realtime.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15490-174D-4683-9DB4-3B2B38DE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7115E-BCE5-4098-8405-D0E8FD9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11975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514AF2-717A-4CB2-B375-439FACA4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L'app Android traduce i dati in una scelta immediata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E3EEE-55D3-463D-B038-17AEFF81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L'utente non legge numeri grezzi: vede stato, score e aula consigliata.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8EED9-9AAD-453A-A793-C1420B8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73865-98C3-4741-B697-320F0A7A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381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AD534-DC4D-4FF6-97CD-8E95C96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86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Aula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518D4-8432-47CF-BF21-8103CEBA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5004B-EBDE-4FCD-8BCB-D02F3916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Temperatura: 22.4 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22399-D57D-4C37-BEDA-F7DB46B8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8D226-E9CB-4CE4-94CF-1D5D8FD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38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Umidità: 48%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1D81E-EF22-464F-9784-81EDCF8C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A4D74-FCE7-4007-926A-DCB6D263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19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Rumore: basso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EC963-830B-4F62-ADDC-9A661976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6C2F0-D4FB-4D7C-B9BA-0F9CD699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Score: 87/100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5D2C4-56A1-4A95-B29D-BD57825D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6275C-3DAB-492C-9B5E-4658CC6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Stato: consigliata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83273-940F-4F9B-AE9E-46FB699B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381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4B356-9FF6-4DB7-890A-84B99241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86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Aula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26D9B-2271-4D42-8D2B-444A75D2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BED60-F58C-46A9-9AC8-138C940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Temperatura: 27.2 °C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04A5B-AAB1-4BE0-86ED-CEAD979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FB776-439C-4E61-AA3F-F6DFB8AA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38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Umidità: 63%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78A74-64EF-45D2-B577-E4B09513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65B1D-8212-4DA9-8925-D1B1FADB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Rumore: medio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A4D1C-FACF-4102-B75C-B83E3639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521DCE-3FCE-47B5-8F2F-92A8C090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00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Score: 61/100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62600-F64B-40C9-8F2E-4EC12D9A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CFDA1-CFF5-4E60-842A-DCF6B51E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81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Stato: accettabile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5C9B7F-C439-4697-A7B1-0CB79C7A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95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A34A"/>
                </a:solidFill>
              </a:defRPr>
            </a:pPr>
            <a:r>
              <a:rPr sz="2100" b="1">
                <a:solidFill>
                  <a:srgbClr val="16A34A"/>
                </a:solidFill>
              </a:rPr>
              <a:t>Aula consigliata: Aula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9840B5-4453-439C-9F94-47171D6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020CE-D8D5-49B9-BFF3-E1FEA0ED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51446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891A0-1B92-40D3-9A4E-E52E1E9A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Score e ML aggiungono intelligenza al monitoraggio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E7648-0A1C-423C-9E4B-F75F9033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Lo score descrive il presente; la predizione anticipa se l'aula migliorerà o peggiorerà.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E2DA2-D458-4C5B-8B7D-39177314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647C8-3FE5-49F5-86ED-715D304A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DFF6F-88B2-43BE-B3CC-B73773EF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Score 0–100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92685-0A8F-48CC-8D95-D1C37BCC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34E7F-6E38-4867-A497-8A6A6369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temperatura ideale: 20–23 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255D7-B56C-4FE1-8A4B-A6584776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E5A3D-F50C-4359-8887-C782DC61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umidità ideale: 40–60%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4B9E8-6FD2-47E1-863A-F7465D3F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18DBA-947B-4256-9726-749791D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rumore basso premiato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9C3ED-7316-4346-898C-4834788B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AA0C8-4C13-4BDF-A871-22498EC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presenza e preferenza utente pesano sul risultato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B7F9B-DA5E-42F3-B247-D1944DC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1F021-3F04-4788-BDDB-F5C8523F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Predizione AI based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AF72C-497D-4945-8AA4-B50AA822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1A6ED-8B85-4DDD-8A23-4B7819EA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legge history/room1 e history/room2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6678E-0E47-4AAF-811B-C2AD6CD3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BD855-FCF5-45DB-A3CF-77A49BD1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528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allena RandomForestRegressor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92AA1-F512-4D32-96B4-F23B20F1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0BDBB-6CB9-45EF-9E20-3FA548C7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scrive predictions/roomX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D6618-FD80-4F9D-855D-74D69AE1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042A0-1A65-4C27-9A9B-F80A010A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mostra trend: miglioramento, stabile, peggioramento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47ABF-D113-4F7C-BD3F-6B4A0E63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87AD5-44DF-42F1-880F-333C7894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41714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D85D6-6690-4421-AC1D-A34DFCE2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La demo è progettata per funzionare anche con due PC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AAF45-1C90-40A2-92FC-AE03F4BC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Un solo bridge centrale mantiene l'architettura pulita anche quando i nodi sono fisicamente distribuiti.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A389F-2FDA-466F-9721-A3565EF9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5AF6B-FA3F-43C4-8150-01043AA6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94F7-8C5D-4DE5-A4FB-F617100B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PC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89514-1A5D-4D1B-9461-43D86A7F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bridge + Arduino Aula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42CCF-8CBC-4A08-9FFC-A0C01BD2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23AFD-78BA-4955-93F8-E0D12F8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7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885B6-1F1A-47FE-82AC-42934499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Firebase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0A6C3-6463-4F21-9774-AA18271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database cloud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87E5E-EA2F-45E2-AEA9-299B3F8C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E975C-9165-4433-B0CD-806A5DE9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A6719-BAE6-4355-9BCC-D2DB27F2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Android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04A7F-A331-4FAB-BE09-EF0E8ADF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visualizzazione realtime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68FE7-4643-436D-9A14-7098C17B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8380A-4328-455A-9353-8E1CF92D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386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PC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51B7E-78FB-4BEF-9F7C-B21542C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434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Arduino Aula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A1C3A-A802-4DA5-B28E-7E5B798D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B5C3C-3958-4812-B716-55159DF0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PC 2 invia a http://IP_DEL_PC_1:3000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364DC-7736-478B-BC44-07B5EB0E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Test chiave prima della demo: /health deve rispondere status ok dal secondo PC.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A307F-E325-4CB1-85FE-7443DD09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Smart Study Rooms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33D556-0F39-4F4A-824D-5ADFBC2C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1320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E563F-F944-4658-8189-94C0926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Da prototipo universitario a servizio per il campus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BFF69-3451-4B05-BCDF-B1021550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BD5E1"/>
                </a:solidFill>
              </a:defRPr>
            </a:pPr>
            <a:r>
              <a:rPr sz="1950" b="0">
                <a:solidFill>
                  <a:srgbClr val="CBD5E1"/>
                </a:solidFill>
              </a:rPr>
              <a:t>Smart Study Rooms dimostra un ciclo IoT completo: sensing, gateway, cloud, app, scoring, storico e predizione.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7B64D-AB21-41E2-8F3E-02B3049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54F3-09F3-4485-AFAC-2B827C67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oggi: due aule monitorate in tempo reale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293BA-949F-4F6A-835B-5E9BB959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D16C1-7CF6-4790-AB6F-43A29723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domani: più aule, dashboard, notifiche e prenotazioni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7ACD2-37BD-4648-85EF-3FF294C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8DACC-BC28-4110-AE6B-9A920243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7867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evoluzione: attuatori e AI per prevedere comfort e occupazione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CE87D-AFBA-4071-8FEF-2527ACB7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57650"/>
            <a:ext cx="2190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268D2-B3FD-4CF1-B069-0B575DB7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Sense → Decide → 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11799-A3A3-4670-89BC-03E8A972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B8"/>
                </a:solidFill>
              </a:defRPr>
            </a:pPr>
            <a:r>
              <a:rPr sz="1200" b="0">
                <a:solidFill>
                  <a:srgbClr val="94A3B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4453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2026-08-22T13:11:36.8820000Z</dcterms:created>
  <dcterms:modified xsi:type="dcterms:W3CDTF">2026-08-22T13:11:36.8820000Z</dcterms:modified>
</coreProperties>
</file>